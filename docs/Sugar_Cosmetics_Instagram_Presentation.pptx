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s Haidery" userId="5e3523e57526e770" providerId="LiveId" clId="{1C53B5A1-51F8-48E4-A279-E5BA5536AAEF}"/>
    <pc:docChg chg="custSel modSld">
      <pc:chgData name="Anas Haidery" userId="5e3523e57526e770" providerId="LiveId" clId="{1C53B5A1-51F8-48E4-A279-E5BA5536AAEF}" dt="2026-10-15T06:32:30.924" v="3" actId="14100"/>
      <pc:docMkLst>
        <pc:docMk/>
      </pc:docMkLst>
      <pc:sldChg chg="addSp delSp modSp mod">
        <pc:chgData name="Anas Haidery" userId="5e3523e57526e770" providerId="LiveId" clId="{1C53B5A1-51F8-48E4-A279-E5BA5536AAEF}" dt="2026-10-15T06:32:30.924" v="3" actId="14100"/>
        <pc:sldMkLst>
          <pc:docMk/>
          <pc:sldMk cId="0" sldId="259"/>
        </pc:sldMkLst>
        <pc:picChg chg="del">
          <ac:chgData name="Anas Haidery" userId="5e3523e57526e770" providerId="LiveId" clId="{1C53B5A1-51F8-48E4-A279-E5BA5536AAEF}" dt="2026-10-15T06:32:14.872" v="0" actId="478"/>
          <ac:picMkLst>
            <pc:docMk/>
            <pc:sldMk cId="0" sldId="259"/>
            <ac:picMk id="6" creationId="{00000000-0000-0000-0000-000000000000}"/>
          </ac:picMkLst>
        </pc:picChg>
        <pc:picChg chg="add mod">
          <ac:chgData name="Anas Haidery" userId="5e3523e57526e770" providerId="LiveId" clId="{1C53B5A1-51F8-48E4-A279-E5BA5536AAEF}" dt="2026-10-15T06:32:30.924" v="3" actId="14100"/>
          <ac:picMkLst>
            <pc:docMk/>
            <pc:sldMk cId="0" sldId="259"/>
            <ac:picMk id="9" creationId="{FC30EF49-5D7C-9F72-633C-18F34E491BC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544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11680"/>
            <a:ext cx="109728" cy="2194560"/>
          </a:xfrm>
          <a:prstGeom prst="rect">
            <a:avLst/>
          </a:prstGeom>
          <a:solidFill>
            <a:srgbClr val="E0245E"/>
          </a:solidFill>
          <a:ln w="12700">
            <a:solidFill>
              <a:srgbClr val="E02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05840" y="1920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2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Performance Analytics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D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social media strategy from 50,000 posts (Apr 2024 - Apr 2025)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| Social Media Analytics | Business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45E"/>
          </a:solidFill>
          <a:ln w="12700">
            <a:solidFill>
              <a:srgbClr val="E02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and approach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answer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| Instagram Performance Analytics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55448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account performance on engagement and reach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best content types, hashtags and posting days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audience interaction and growth trends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strategy for the marketing team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2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01168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posts, 14 columns, no missing values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Formats: Image, Reel, Story, Video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hashtags, 5 campaign types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 = (likes + comments + shares + saves) / reach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for cleaning, Tableau Public for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45E"/>
          </a:solidFill>
          <a:ln w="12700">
            <a:solidFill>
              <a:srgbClr val="E02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the account is large and consistent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overall account performing?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| Instagram Performance Analytics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2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2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16459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2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78892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2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147.7M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likes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16459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2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07492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2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18.5M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comments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60920" y="16459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2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36092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2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987.4M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reach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46920" y="16459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7E2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64692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2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18.54%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964692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engagement rate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365760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Summed reach is 77% of impressions (impressions include repeat views; reach is not unique people)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(8.1M) and saves (8.9M) are under 1% of reach; likes are 81% of all interactions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8.9M follows against 29.6M profile visits (29.9% exploratory follow rate)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45E"/>
          </a:solidFill>
          <a:ln w="12700">
            <a:solidFill>
              <a:srgbClr val="E02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for Post Type, Month, Hashtag and Campaign; click any bar to cross-filter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| Instagram Performance Analytics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6172200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picture with your own Tableau dashboard PNG (right-click &gt; Change Picture)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30EF49-5D7C-9F72-633C-18F34E491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552" y="1261871"/>
            <a:ext cx="9182896" cy="51846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45E"/>
          </a:solidFill>
          <a:ln w="12700">
            <a:solidFill>
              <a:srgbClr val="E02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is steady; top posts are alike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and top 10 posts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| Instagram Performance Analytics</a:t>
            </a:r>
            <a:endParaRPr lang="en-US" sz="1000" dirty="0"/>
          </a:p>
        </p:txBody>
      </p:sp>
      <p:pic>
        <p:nvPicPr>
          <p:cNvPr id="6" name="Image 0" descr="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6766560" cy="2443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89520" y="146304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4,000-4,300 posts every full month (about 137 per day); April 2024 and April 2025 are partial months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posts by likes: 11,043 to 11,392 likes, all on posts with the widest reach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by engagement rate: 33.8% to 34.1%, often with modest reach (hidden gems)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and engagement rate are almost uncorrelated (r = 0.004)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45E"/>
          </a:solidFill>
          <a:ln w="12700">
            <a:solidFill>
              <a:srgbClr val="E02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weekday and hashtag: very small differences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segment is statistically different from the average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| Instagram Performance Analytics</a:t>
            </a:r>
            <a:endParaRPr lang="en-US" sz="1000" dirty="0"/>
          </a:p>
        </p:txBody>
      </p:sp>
      <p:pic>
        <p:nvPicPr>
          <p:cNvPr id="6" name="Image 0" descr="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5669280" cy="1811020"/>
          </a:xfrm>
          <a:prstGeom prst="rect">
            <a:avLst/>
          </a:prstGeom>
        </p:spPr>
      </p:pic>
      <p:pic>
        <p:nvPicPr>
          <p:cNvPr id="7" name="Image 1" descr="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17320"/>
            <a:ext cx="5486400" cy="1828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02920" y="4206240"/>
            <a:ext cx="11247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(18.61%) and Stories (18.60%) lead; Image trails (18.43%): a 0.18 point gap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day Wednesday 18.63% vs Sunday 18.42%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hashtags sit between 18.51% and 18.61%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hashtags beat one (18.63% / 18.54% vs 18.44%)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Collab leads campaigns (18.60%); Festive Offer is last (18.44%)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45E"/>
          </a:solidFill>
          <a:ln w="12700">
            <a:solidFill>
              <a:srgbClr val="E02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funnel: depth is the gap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 to Reach to Likes to Comments to Shares to Saves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| Instagram Performance Analytics</a:t>
            </a:r>
            <a:endParaRPr lang="en-US" sz="1000" dirty="0"/>
          </a:p>
        </p:txBody>
      </p:sp>
      <p:pic>
        <p:nvPicPr>
          <p:cNvPr id="6" name="Image 0" descr="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6949440" cy="2509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0" y="146304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1.28B impressions led to 987M summed reach (77.4% of impressions)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Likes: 15.0% of reach; comments 1.9%; shares 0.8%; saves 0.9%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and saves signal virality and purchase intent, and are the weakest steps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visits are 3.0% of reach; exploratory follow rate is 29.9% of visits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45E"/>
          </a:solidFill>
          <a:ln w="12700">
            <a:solidFill>
              <a:srgbClr val="E02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marketing team should do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| Instagram Performance Analytics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7E2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548640" cy="64008"/>
          </a:xfrm>
          <a:prstGeom prst="rect">
            <a:avLst/>
          </a:prstGeom>
          <a:solidFill>
            <a:srgbClr val="E0245E"/>
          </a:solidFill>
          <a:ln w="12700">
            <a:solidFill>
              <a:srgbClr val="E02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and frequency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603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every day; keep about 4,000+ posts a month. No weekday needs to be dropped. Add posting time to the data to test hours.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7E2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1783080"/>
            <a:ext cx="548640" cy="64008"/>
          </a:xfrm>
          <a:prstGeom prst="rect">
            <a:avLst/>
          </a:prstGeom>
          <a:solidFill>
            <a:srgbClr val="E0245E"/>
          </a:solidFill>
          <a:ln w="12700">
            <a:solidFill>
              <a:srgbClr val="E02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2628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hashtags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5603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four formats, lean to Reels and Stories. Use 2-3 hashtags. Default to Influencer Collab and Tutorial campaigns.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2440" y="15544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7E2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0" y="1783080"/>
            <a:ext cx="548640" cy="64008"/>
          </a:xfrm>
          <a:prstGeom prst="rect">
            <a:avLst/>
          </a:prstGeom>
          <a:solidFill>
            <a:srgbClr val="E0245E"/>
          </a:solidFill>
          <a:ln w="12700">
            <a:solidFill>
              <a:srgbClr val="E02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2104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and growth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5603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save and share prompts (tutorials, shade guides). Add a profile call to action on top-reach posts (profile visits are only 3% of reach). Check paid vs organic spend.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245E"/>
          </a:solidFill>
          <a:ln w="12700">
            <a:solidFill>
              <a:srgbClr val="E02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gaps and campaign ideas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look next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| Instagram Performance Analytics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2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to close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2024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caption column: add it to analyse themes and CTAs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follower count or posting hour: add both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posts/day and an 18.5% reach-based rate are unusually high: confirm the source and definition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months in Apr 2024 and Apr 2025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2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and test ideas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9202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"Save the Look" tutorial series (Reel + Story) aimed at saves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Cruelty-free influencer drops built on #CrueltyFree and #VeganBeauty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Festive Offer creative, the weakest campaign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A/B tests: hashtag count, CTA wording, posting hour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</Words>
  <Application>Microsoft Office PowerPoint</Application>
  <PresentationFormat>Widescreen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Anas Haidery</cp:lastModifiedBy>
  <cp:revision>1</cp:revision>
  <dcterms:created xsi:type="dcterms:W3CDTF">2026-10-13T19:12:52Z</dcterms:created>
  <dcterms:modified xsi:type="dcterms:W3CDTF">2026-10-15T06:32:41Z</dcterms:modified>
</cp:coreProperties>
</file>